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800" r:id="rId2"/>
  </p:sldMasterIdLst>
  <p:notesMasterIdLst>
    <p:notesMasterId r:id="rId13"/>
  </p:notesMasterIdLst>
  <p:sldIdLst>
    <p:sldId id="467" r:id="rId3"/>
    <p:sldId id="468" r:id="rId4"/>
    <p:sldId id="469" r:id="rId5"/>
    <p:sldId id="470" r:id="rId6"/>
    <p:sldId id="498" r:id="rId7"/>
    <p:sldId id="471" r:id="rId8"/>
    <p:sldId id="472" r:id="rId9"/>
    <p:sldId id="473" r:id="rId10"/>
    <p:sldId id="474" r:id="rId11"/>
    <p:sldId id="475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9" autoAdjust="0"/>
    <p:restoredTop sz="94660"/>
  </p:normalViewPr>
  <p:slideViewPr>
    <p:cSldViewPr>
      <p:cViewPr varScale="1">
        <p:scale>
          <a:sx n="112" d="100"/>
          <a:sy n="112" d="100"/>
        </p:scale>
        <p:origin x="120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CB252-005D-48F1-9BAF-66CC5FB28144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BB6C4-F93F-47EE-9D88-E6D9F2D3AB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464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按一下以編輯母片副標題樣式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44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87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65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313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58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608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85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33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11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10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039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54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800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9209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4439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548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124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201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729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9554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135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80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16DC5-C4A4-452D-B631-572A6E77926A}" type="datetimeFigureOut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2/4/2026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5E555-C324-41AC-B8DC-B8331CCC89BF}" type="slidenum">
              <a:rPr kumimoji="0" lang="zh-HK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HK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73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1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Mid-Term Project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sz="4000" dirty="0" smtClean="0">
                <a:solidFill>
                  <a:schemeClr val="tx1"/>
                </a:solidFill>
              </a:rPr>
              <a:t>Presentation on May 7, 2026</a:t>
            </a:r>
          </a:p>
          <a:p>
            <a:endParaRPr lang="en-US" altLang="zh-TW" dirty="0" smtClean="0">
              <a:solidFill>
                <a:schemeClr val="tx1"/>
              </a:solidFill>
            </a:endParaRPr>
          </a:p>
          <a:p>
            <a:r>
              <a:rPr lang="en-US" altLang="zh-TW" dirty="0" smtClean="0">
                <a:solidFill>
                  <a:schemeClr val="tx1"/>
                </a:solidFill>
              </a:rPr>
              <a:t>Online Instruction Folder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https://drive.google.com/drive/folders/19IyrpYWqp--ML058uZU0RD1K6-0VKQLq?usp=sharing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991" y="5352840"/>
            <a:ext cx="1495634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8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Screening for </a:t>
            </a:r>
            <a:r>
              <a:rPr lang="en-US" altLang="zh-TW" dirty="0" err="1" smtClean="0"/>
              <a:t>Sarcopenia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45746" y="1844824"/>
            <a:ext cx="3741053" cy="4281339"/>
          </a:xfrm>
        </p:spPr>
        <p:txBody>
          <a:bodyPr/>
          <a:lstStyle/>
          <a:p>
            <a:r>
              <a:rPr lang="en-US" altLang="zh-TW" dirty="0" smtClean="0"/>
              <a:t>Refer to this article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26" y="1628800"/>
            <a:ext cx="4451710" cy="437454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43436" y="4293096"/>
            <a:ext cx="42488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https://drive.google.com/file/d/1gCJQBI0sSrmpK12pv4AFKOF2oF9gQQ6O/view?usp=drive_link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201" y="5157192"/>
            <a:ext cx="1505160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7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3491" y="183175"/>
            <a:ext cx="8229600" cy="597933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The dataset for midterm practice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33220" y="980728"/>
            <a:ext cx="4426812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Features</a:t>
            </a:r>
          </a:p>
          <a:p>
            <a:pPr lvl="1"/>
            <a:r>
              <a:rPr lang="en-US" altLang="zh-TW" dirty="0" smtClean="0"/>
              <a:t>Age, calf circumference …</a:t>
            </a:r>
          </a:p>
          <a:p>
            <a:r>
              <a:rPr lang="en-US" altLang="zh-TW" dirty="0" smtClean="0"/>
              <a:t>Targets  </a:t>
            </a:r>
          </a:p>
          <a:p>
            <a:pPr lvl="1"/>
            <a:r>
              <a:rPr lang="en-US" altLang="zh-TW" dirty="0"/>
              <a:t>M</a:t>
            </a:r>
            <a:r>
              <a:rPr lang="en-US" altLang="zh-TW" dirty="0" smtClean="0"/>
              <a:t>uscle power (handgrip strength)</a:t>
            </a:r>
          </a:p>
          <a:p>
            <a:pPr lvl="1"/>
            <a:r>
              <a:rPr lang="en-US" altLang="zh-TW" dirty="0"/>
              <a:t>M</a:t>
            </a:r>
            <a:r>
              <a:rPr lang="en-US" altLang="zh-TW" dirty="0" smtClean="0"/>
              <a:t>uscle mass (ASML)</a:t>
            </a:r>
          </a:p>
          <a:p>
            <a:pPr lvl="1"/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Sarcopenia</a:t>
            </a:r>
            <a:endParaRPr lang="en-US" altLang="zh-TW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2"/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Low 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muscle strength: handgrip strength &lt;28 kg for men and &lt;18 kg for </a:t>
            </a:r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women.</a:t>
            </a:r>
          </a:p>
          <a:p>
            <a:pPr lvl="2"/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Reduced 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skeletal muscle mass index: ASMI ≤7.0 kg/m² for men and ≤5.7 kg/m² for women, measured using bioelectrical impedance analysis (BIA)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>
          <a:xfrm>
            <a:off x="4956661" y="1242053"/>
            <a:ext cx="4038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Dataset </a:t>
            </a:r>
            <a:r>
              <a:rPr lang="en-US" altLang="zh-TW" dirty="0" smtClean="0"/>
              <a:t>here:</a:t>
            </a:r>
          </a:p>
          <a:p>
            <a:pPr lvl="1"/>
            <a:r>
              <a:rPr lang="en-US" altLang="zh-TW" dirty="0" smtClean="0"/>
              <a:t>CSV</a:t>
            </a:r>
          </a:p>
          <a:p>
            <a:pPr lvl="2"/>
            <a:r>
              <a:rPr lang="en-US" altLang="zh-TW" dirty="0"/>
              <a:t>https://drive.google.com/file/d/1KFgNe3pBjZJvC9Uhn4DYORkP0DeGgTOU/view?usp=drive_link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Excel</a:t>
            </a:r>
          </a:p>
          <a:p>
            <a:pPr marL="914400" lvl="2" indent="0">
              <a:buNone/>
            </a:pPr>
            <a:r>
              <a:rPr lang="en-US" altLang="zh-TW" dirty="0"/>
              <a:t>https://docs.google.com/spreadsheets/d/16a39Y3Em1-rtNVaigpj7L5T8pSf8zXgL/edit?usp=drive_link&amp;ouid=110407566279501444493&amp;rtpof=true&amp;sd=true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SPSS</a:t>
            </a:r>
          </a:p>
          <a:p>
            <a:pPr lvl="2"/>
            <a:r>
              <a:rPr lang="en-US" altLang="zh-TW" dirty="0"/>
              <a:t>https://drive.google.com/file/d/1LtQk6SgyrNnDvsOlseFjZp--jjp7lGGG/view?usp=drive_link</a:t>
            </a:r>
            <a:endParaRPr lang="en-US" altLang="zh-TW" dirty="0" smtClean="0"/>
          </a:p>
          <a:p>
            <a:pPr lvl="2"/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20" y="5065445"/>
            <a:ext cx="1505160" cy="151468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53" y="5047364"/>
            <a:ext cx="1524213" cy="153373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245" y="5079213"/>
            <a:ext cx="1522479" cy="1522479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827584" y="6488668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CSV                           Excel                      SPSS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62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dataset for practice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Women who participated in the </a:t>
            </a:r>
            <a:r>
              <a:rPr lang="en-US" altLang="zh-TW" dirty="0" err="1" smtClean="0"/>
              <a:t>sarcopenia</a:t>
            </a:r>
            <a:r>
              <a:rPr lang="en-US" altLang="zh-TW" dirty="0" smtClean="0"/>
              <a:t> screening program</a:t>
            </a:r>
          </a:p>
          <a:p>
            <a:r>
              <a:rPr lang="en-US" altLang="zh-TW" dirty="0" smtClean="0"/>
              <a:t>591 subjects</a:t>
            </a:r>
          </a:p>
          <a:p>
            <a:r>
              <a:rPr lang="en-US" altLang="zh-TW" dirty="0" smtClean="0"/>
              <a:t>10 predicting variables (features)</a:t>
            </a:r>
          </a:p>
          <a:p>
            <a:r>
              <a:rPr lang="en-US" altLang="zh-TW" dirty="0" smtClean="0"/>
              <a:t>2 outcome variables (muscle power and muscle mass)</a:t>
            </a:r>
          </a:p>
          <a:p>
            <a:pPr lvl="1"/>
            <a:r>
              <a:rPr lang="en-US" altLang="zh-TW" dirty="0" smtClean="0"/>
              <a:t>(Low) </a:t>
            </a:r>
            <a:r>
              <a:rPr lang="en-US" altLang="zh-TW" dirty="0" smtClean="0">
                <a:solidFill>
                  <a:srgbClr val="00B0F0"/>
                </a:solidFill>
              </a:rPr>
              <a:t>muscle power </a:t>
            </a:r>
            <a:r>
              <a:rPr lang="en-US" altLang="zh-TW" dirty="0" smtClean="0"/>
              <a:t>(classification or </a:t>
            </a:r>
            <a:r>
              <a:rPr lang="en-US" altLang="zh-TW" b="1" dirty="0" smtClean="0">
                <a:solidFill>
                  <a:srgbClr val="00B0F0"/>
                </a:solidFill>
              </a:rPr>
              <a:t>regression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(Low) </a:t>
            </a:r>
            <a:r>
              <a:rPr lang="en-US" altLang="zh-TW" dirty="0" smtClean="0">
                <a:solidFill>
                  <a:srgbClr val="00B0F0"/>
                </a:solidFill>
              </a:rPr>
              <a:t>muscle mass </a:t>
            </a:r>
            <a:r>
              <a:rPr lang="en-US" altLang="zh-TW" dirty="0" smtClean="0"/>
              <a:t>(classification or </a:t>
            </a:r>
            <a:r>
              <a:rPr lang="en-US" altLang="zh-TW" b="1" dirty="0" smtClean="0">
                <a:solidFill>
                  <a:srgbClr val="00B0F0"/>
                </a:solidFill>
              </a:rPr>
              <a:t>regression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Main Target: </a:t>
            </a:r>
            <a:r>
              <a:rPr lang="en-US" altLang="zh-TW" dirty="0" err="1" smtClean="0">
                <a:solidFill>
                  <a:srgbClr val="FF0000"/>
                </a:solidFill>
              </a:rPr>
              <a:t>Sarcopenia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Binary classification</a:t>
            </a:r>
          </a:p>
          <a:p>
            <a:r>
              <a:rPr lang="en-US" altLang="zh-TW" dirty="0" smtClean="0"/>
              <a:t>Codebook here:</a:t>
            </a:r>
          </a:p>
          <a:p>
            <a:pPr lvl="1"/>
            <a:r>
              <a:rPr lang="en-US" altLang="zh-TW" dirty="0"/>
              <a:t>https://docs.google.com/document/d/14mw0VpJWeR9zs7fd-p3NDu-TxSO1LSXY/edit?usp=drive_link&amp;ouid=110407566279501444493&amp;rtpof=true&amp;sd=true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5390421"/>
            <a:ext cx="1457528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982148"/>
              </p:ext>
            </p:extLst>
          </p:nvPr>
        </p:nvGraphicFramePr>
        <p:xfrm>
          <a:off x="179513" y="188640"/>
          <a:ext cx="8640959" cy="6395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2186">
                  <a:extLst>
                    <a:ext uri="{9D8B030D-6E8A-4147-A177-3AD203B41FA5}">
                      <a16:colId xmlns:a16="http://schemas.microsoft.com/office/drawing/2014/main" val="2207919558"/>
                    </a:ext>
                  </a:extLst>
                </a:gridCol>
                <a:gridCol w="2486476">
                  <a:extLst>
                    <a:ext uri="{9D8B030D-6E8A-4147-A177-3AD203B41FA5}">
                      <a16:colId xmlns:a16="http://schemas.microsoft.com/office/drawing/2014/main" val="1393651074"/>
                    </a:ext>
                  </a:extLst>
                </a:gridCol>
                <a:gridCol w="1449531">
                  <a:extLst>
                    <a:ext uri="{9D8B030D-6E8A-4147-A177-3AD203B41FA5}">
                      <a16:colId xmlns:a16="http://schemas.microsoft.com/office/drawing/2014/main" val="501020328"/>
                    </a:ext>
                  </a:extLst>
                </a:gridCol>
                <a:gridCol w="931060">
                  <a:extLst>
                    <a:ext uri="{9D8B030D-6E8A-4147-A177-3AD203B41FA5}">
                      <a16:colId xmlns:a16="http://schemas.microsoft.com/office/drawing/2014/main" val="2540278229"/>
                    </a:ext>
                  </a:extLst>
                </a:gridCol>
                <a:gridCol w="2431706">
                  <a:extLst>
                    <a:ext uri="{9D8B030D-6E8A-4147-A177-3AD203B41FA5}">
                      <a16:colId xmlns:a16="http://schemas.microsoft.com/office/drawing/2014/main" val="380405993"/>
                    </a:ext>
                  </a:extLst>
                </a:gridCol>
              </a:tblGrid>
              <a:tr h="1357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Variables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Label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Value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Role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Quote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3050016671"/>
                  </a:ext>
                </a:extLst>
              </a:tr>
              <a:tr h="4073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 err="1">
                          <a:effectLst/>
                        </a:rPr>
                        <a:t>seq_id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Individual id number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Numeric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No, just an id number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Not used in model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2939823121"/>
                  </a:ext>
                </a:extLst>
              </a:tr>
              <a:tr h="2715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sex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Sex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1: men</a:t>
                      </a:r>
                      <a:endParaRPr lang="zh-TW" sz="9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0: women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Only women included in the study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1994287438"/>
                  </a:ext>
                </a:extLst>
              </a:tr>
              <a:tr h="13577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age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Age (years)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Numeric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1707535104"/>
                  </a:ext>
                </a:extLst>
              </a:tr>
              <a:tr h="2715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dominant_hand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Dominant hand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1: right</a:t>
                      </a:r>
                      <a:endParaRPr lang="zh-TW" sz="9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0, left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467623102"/>
                  </a:ext>
                </a:extLst>
              </a:tr>
              <a:tr h="2715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dominant_leg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Dominant leg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1: right</a:t>
                      </a:r>
                      <a:endParaRPr lang="zh-TW" sz="9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0, left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701738283"/>
                  </a:ext>
                </a:extLst>
              </a:tr>
              <a:tr h="2715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calf_circ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Calf circumference (cm) of the dominant leg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Numeric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2116075933"/>
                  </a:ext>
                </a:extLst>
              </a:tr>
              <a:tr h="13577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weight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Weight (kg)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Numeric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2763537523"/>
                  </a:ext>
                </a:extLst>
              </a:tr>
              <a:tr h="13577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height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Height (cm)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Numeric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3749610903"/>
                  </a:ext>
                </a:extLst>
              </a:tr>
              <a:tr h="4073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BMI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Body mass index, defined as weight (kg) divided by square of height (kg/m</a:t>
                      </a:r>
                      <a:r>
                        <a:rPr lang="en-US" sz="900" kern="100" baseline="30000" dirty="0">
                          <a:effectLst/>
                        </a:rPr>
                        <a:t>2</a:t>
                      </a:r>
                      <a:r>
                        <a:rPr lang="en-US" sz="900" kern="100" dirty="0">
                          <a:effectLst/>
                        </a:rPr>
                        <a:t>)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Numeric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Probably no need to use this variable once weight and height are included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734806398"/>
                  </a:ext>
                </a:extLst>
              </a:tr>
              <a:tr h="4073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function_survey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A questionnaire survey about functional status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Numeric (ranging from 0 to 7)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This variable is ordinal. But it is OK to treat it as continuous.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2826510202"/>
                  </a:ext>
                </a:extLst>
              </a:tr>
              <a:tr h="4073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new_test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A new test that has not been evaluated yet and measured some kind of power (kg)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Numeric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feature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A new test that is not used in the diagnostic criteria for sarcopenia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2344349111"/>
                  </a:ext>
                </a:extLst>
              </a:tr>
              <a:tr h="4073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muscle_power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Muscle power measured from dynamometer, indicating handgrip strength (kg)) 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Numeric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Target (continuous)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A target for regression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2958066860"/>
                  </a:ext>
                </a:extLst>
              </a:tr>
              <a:tr h="6788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muscle_mass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Muscle mass in terms of appendicular skeletal muscle power (ASML, kg/m</a:t>
                      </a:r>
                      <a:r>
                        <a:rPr lang="en-US" sz="900" kern="100" baseline="30000">
                          <a:effectLst/>
                        </a:rPr>
                        <a:t>2</a:t>
                      </a:r>
                      <a:r>
                        <a:rPr lang="en-US" sz="900" kern="100">
                          <a:effectLst/>
                        </a:rPr>
                        <a:t>) measured by bioelectrical impedance analysis (BIA)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Numeric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Target (continuous)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A target for regression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3250436536"/>
                  </a:ext>
                </a:extLst>
              </a:tr>
              <a:tr h="20365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sarcopenia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Sarcopenia was defined based on the criteria established by EWGSOP2. Participants were classified as having sarcopenia if they met both of the following conditions:</a:t>
                      </a:r>
                      <a:endParaRPr lang="zh-TW" sz="9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1.	Low muscle strength: handgrip strength &lt;28 kg for men and &lt;18 kg for women.</a:t>
                      </a:r>
                      <a:endParaRPr lang="zh-TW" sz="9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2.	Reduced skeletal muscle mass index: ASMI ≤7.0 kg/m² for men and ≤5.7 kg/m² for women, measured using BIA.</a:t>
                      </a:r>
                      <a:endParaRPr lang="zh-TW" sz="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1: </a:t>
                      </a:r>
                      <a:r>
                        <a:rPr lang="en-US" sz="900" kern="100" dirty="0" err="1">
                          <a:effectLst/>
                        </a:rPr>
                        <a:t>Sarcopneia</a:t>
                      </a:r>
                      <a:endParaRPr lang="zh-TW" sz="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0:</a:t>
                      </a:r>
                      <a:endParaRPr lang="zh-TW" sz="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No </a:t>
                      </a:r>
                      <a:r>
                        <a:rPr lang="en-US" sz="900" kern="100" dirty="0" err="1">
                          <a:effectLst/>
                        </a:rPr>
                        <a:t>sarcopenia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Main Target (binary)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The main target, combining both low muscle power and low muscle mass, is a binary outcome for classification.</a:t>
                      </a: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37948" marR="37948" marT="0" marB="0"/>
                </a:tc>
                <a:extLst>
                  <a:ext uri="{0D108BD9-81ED-4DB2-BD59-A6C34878D82A}">
                    <a16:rowId xmlns:a16="http://schemas.microsoft.com/office/drawing/2014/main" val="3612028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33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Analytic Issues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Descriptive statistics</a:t>
            </a:r>
          </a:p>
          <a:p>
            <a:r>
              <a:rPr lang="en-US" altLang="zh-TW" dirty="0" smtClean="0"/>
              <a:t>Continuous data vs. categorical </a:t>
            </a:r>
            <a:r>
              <a:rPr lang="en-US" altLang="zh-TW" dirty="0" smtClean="0"/>
              <a:t>data</a:t>
            </a:r>
          </a:p>
          <a:p>
            <a:r>
              <a:rPr lang="en-US" altLang="zh-TW" dirty="0" smtClean="0"/>
              <a:t>Missing </a:t>
            </a:r>
            <a:r>
              <a:rPr lang="en-US" altLang="zh-TW" dirty="0" smtClean="0"/>
              <a:t>data (very few):</a:t>
            </a:r>
          </a:p>
          <a:p>
            <a:pPr lvl="1"/>
            <a:r>
              <a:rPr lang="en-US" altLang="zh-TW" dirty="0" err="1" smtClean="0"/>
              <a:t>Listwise</a:t>
            </a:r>
            <a:r>
              <a:rPr lang="en-US" altLang="zh-TW" dirty="0" smtClean="0"/>
              <a:t> deletion</a:t>
            </a:r>
          </a:p>
          <a:p>
            <a:pPr lvl="1"/>
            <a:r>
              <a:rPr lang="en-US" altLang="zh-TW" dirty="0" smtClean="0"/>
              <a:t>Categorization</a:t>
            </a:r>
          </a:p>
          <a:p>
            <a:pPr lvl="1"/>
            <a:r>
              <a:rPr lang="en-US" altLang="zh-TW" dirty="0" smtClean="0"/>
              <a:t>Imputation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Only the 433 women aged 65 years old and above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Two analytic strategies: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>
                <a:solidFill>
                  <a:srgbClr val="FF0000"/>
                </a:solidFill>
              </a:rPr>
              <a:t>Selecting those who are aged (&gt; 65 y/o)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>
                <a:solidFill>
                  <a:srgbClr val="FF0000"/>
                </a:solidFill>
              </a:rPr>
              <a:t>Do twice:</a:t>
            </a:r>
          </a:p>
          <a:p>
            <a:pPr marL="1314450" lvl="2" indent="-457200">
              <a:buFont typeface="+mj-lt"/>
              <a:buAutoNum type="arabicParenR"/>
            </a:pPr>
            <a:r>
              <a:rPr lang="en-US" altLang="zh-TW" dirty="0">
                <a:solidFill>
                  <a:srgbClr val="FF0000"/>
                </a:solidFill>
              </a:rPr>
              <a:t>All women (n = 592)</a:t>
            </a:r>
          </a:p>
          <a:p>
            <a:pPr marL="1314450" lvl="2" indent="-457200">
              <a:buFont typeface="+mj-lt"/>
              <a:buAutoNum type="arabicParenR"/>
            </a:pPr>
            <a:r>
              <a:rPr lang="en-US" altLang="zh-TW">
                <a:solidFill>
                  <a:srgbClr val="FF0000"/>
                </a:solidFill>
              </a:rPr>
              <a:t>Those who are aged (n = </a:t>
            </a:r>
            <a:r>
              <a:rPr lang="en-US" altLang="zh-TW">
                <a:solidFill>
                  <a:srgbClr val="FF0000"/>
                </a:solidFill>
              </a:rPr>
              <a:t>433</a:t>
            </a:r>
            <a:r>
              <a:rPr lang="en-US" altLang="zh-TW" smtClean="0">
                <a:solidFill>
                  <a:srgbClr val="FF0000"/>
                </a:solidFill>
              </a:rPr>
              <a:t>)</a:t>
            </a:r>
            <a:endParaRPr lang="en-US" altLang="zh-TW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590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Regression vs. Classification</a:t>
            </a:r>
            <a:endParaRPr lang="zh-TW" alt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Regression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To predict how much the muscle power and muscle power would be</a:t>
            </a:r>
          </a:p>
          <a:p>
            <a:r>
              <a:rPr lang="en-US" altLang="zh-TW" dirty="0" smtClean="0"/>
              <a:t>Statistical methods</a:t>
            </a:r>
          </a:p>
          <a:p>
            <a:pPr lvl="1"/>
            <a:r>
              <a:rPr lang="en-US" altLang="zh-TW" dirty="0" smtClean="0"/>
              <a:t>Linear regression</a:t>
            </a:r>
          </a:p>
          <a:p>
            <a:r>
              <a:rPr lang="en-US" altLang="zh-TW" dirty="0" smtClean="0"/>
              <a:t>Machine learning</a:t>
            </a:r>
          </a:p>
          <a:p>
            <a:pPr lvl="1"/>
            <a:r>
              <a:rPr lang="en-US" altLang="zh-TW" dirty="0" smtClean="0"/>
              <a:t>Ridge regression</a:t>
            </a:r>
          </a:p>
          <a:p>
            <a:pPr lvl="1"/>
            <a:r>
              <a:rPr lang="en-US" altLang="zh-TW" dirty="0" smtClean="0"/>
              <a:t>Lasso regression</a:t>
            </a:r>
          </a:p>
          <a:p>
            <a:pPr lvl="1"/>
            <a:r>
              <a:rPr lang="en-US" altLang="zh-TW" dirty="0"/>
              <a:t>Tree-based </a:t>
            </a:r>
            <a:r>
              <a:rPr lang="en-US" altLang="zh-TW" dirty="0" smtClean="0"/>
              <a:t>ensemble </a:t>
            </a:r>
            <a:r>
              <a:rPr lang="en-US" altLang="zh-TW" dirty="0"/>
              <a:t>m</a:t>
            </a:r>
            <a:r>
              <a:rPr lang="en-US" altLang="zh-TW" dirty="0" smtClean="0"/>
              <a:t>ethods …</a:t>
            </a:r>
          </a:p>
          <a:p>
            <a:pPr lvl="1"/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 smtClean="0"/>
              <a:t>Classification</a:t>
            </a:r>
            <a:endParaRPr lang="zh-TW" alt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To predict whether a woman would have </a:t>
            </a:r>
            <a:r>
              <a:rPr lang="en-US" altLang="zh-TW" dirty="0" err="1" smtClean="0"/>
              <a:t>sarcopenia</a:t>
            </a:r>
            <a:endParaRPr lang="en-US" altLang="zh-TW" dirty="0" smtClean="0"/>
          </a:p>
          <a:p>
            <a:r>
              <a:rPr lang="en-US" altLang="zh-TW" dirty="0" smtClean="0"/>
              <a:t>Statistical methods</a:t>
            </a:r>
          </a:p>
          <a:p>
            <a:pPr lvl="1"/>
            <a:r>
              <a:rPr lang="en-US" altLang="zh-TW" dirty="0" smtClean="0"/>
              <a:t>Logistic regression</a:t>
            </a:r>
          </a:p>
          <a:p>
            <a:r>
              <a:rPr lang="en-US" altLang="zh-TW" dirty="0" smtClean="0"/>
              <a:t>Machine learning</a:t>
            </a:r>
          </a:p>
          <a:p>
            <a:pPr lvl="1"/>
            <a:r>
              <a:rPr lang="en-US" altLang="zh-TW" dirty="0"/>
              <a:t>Multiple level neural networks</a:t>
            </a:r>
          </a:p>
          <a:p>
            <a:pPr lvl="1"/>
            <a:r>
              <a:rPr lang="en-US" altLang="zh-TW" dirty="0" smtClean="0"/>
              <a:t>Support </a:t>
            </a:r>
            <a:r>
              <a:rPr lang="en-US" altLang="zh-TW" dirty="0"/>
              <a:t>vector machine (SVM)</a:t>
            </a:r>
          </a:p>
          <a:p>
            <a:pPr lvl="1"/>
            <a:r>
              <a:rPr lang="en-US" altLang="zh-TW" dirty="0"/>
              <a:t>Bayesian analysis</a:t>
            </a:r>
          </a:p>
          <a:p>
            <a:pPr lvl="1"/>
            <a:r>
              <a:rPr lang="en-US" altLang="zh-TW" dirty="0"/>
              <a:t>Random forest </a:t>
            </a:r>
          </a:p>
          <a:p>
            <a:pPr lvl="1"/>
            <a:r>
              <a:rPr lang="en-US" altLang="zh-TW" dirty="0" err="1" smtClean="0"/>
              <a:t>Xgboost</a:t>
            </a:r>
            <a:r>
              <a:rPr lang="en-US" altLang="zh-TW" dirty="0" smtClean="0"/>
              <a:t> …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7282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Requirement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Statistical models</a:t>
            </a:r>
          </a:p>
          <a:p>
            <a:pPr lvl="1"/>
            <a:r>
              <a:rPr lang="en-US" altLang="zh-TW" dirty="0" smtClean="0"/>
              <a:t>Build a linear regression model for predicting muscle power</a:t>
            </a:r>
          </a:p>
          <a:p>
            <a:pPr lvl="1"/>
            <a:r>
              <a:rPr lang="en-US" altLang="zh-TW" dirty="0" smtClean="0"/>
              <a:t>Build a linear regression model for predicting muscle mass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Build a logistic regression model for predicting the presence of </a:t>
            </a:r>
            <a:r>
              <a:rPr lang="en-US" altLang="zh-TW" dirty="0" err="1" smtClean="0">
                <a:solidFill>
                  <a:srgbClr val="FF0000"/>
                </a:solidFill>
              </a:rPr>
              <a:t>sarcopenia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658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Requirement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Machine learning models</a:t>
            </a:r>
          </a:p>
          <a:p>
            <a:pPr lvl="1"/>
            <a:r>
              <a:rPr lang="en-US" altLang="zh-TW" dirty="0" smtClean="0"/>
              <a:t>Build a ML model for predicting muscle power and muscle mass</a:t>
            </a:r>
          </a:p>
          <a:p>
            <a:pPr lvl="2"/>
            <a:r>
              <a:rPr lang="en-US" altLang="zh-TW" dirty="0" smtClean="0"/>
              <a:t>Choose one appropriate model, either ridge regression, Lasso regression, tree-based </a:t>
            </a:r>
            <a:r>
              <a:rPr lang="en-US" altLang="zh-TW" dirty="0"/>
              <a:t>ensemble </a:t>
            </a:r>
            <a:r>
              <a:rPr lang="en-US" altLang="zh-TW" dirty="0" smtClean="0"/>
              <a:t>methods or others 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Build a ML model for predicting the presence of </a:t>
            </a:r>
            <a:r>
              <a:rPr lang="en-US" altLang="zh-TW" dirty="0" err="1" smtClean="0">
                <a:solidFill>
                  <a:srgbClr val="FF0000"/>
                </a:solidFill>
              </a:rPr>
              <a:t>sarcopenia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2"/>
            <a:r>
              <a:rPr lang="en-US" altLang="zh-TW" dirty="0"/>
              <a:t>Choose one appropriate model, either </a:t>
            </a:r>
            <a:r>
              <a:rPr lang="en-US" altLang="zh-TW" dirty="0" smtClean="0"/>
              <a:t>NN, SVM</a:t>
            </a:r>
            <a:r>
              <a:rPr lang="en-US" altLang="zh-TW" dirty="0"/>
              <a:t>, Bayesian </a:t>
            </a:r>
            <a:r>
              <a:rPr lang="en-US" altLang="zh-TW" dirty="0" smtClean="0"/>
              <a:t>analysis, Random </a:t>
            </a:r>
            <a:r>
              <a:rPr lang="en-US" altLang="zh-TW" dirty="0"/>
              <a:t>forest 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Xgboost</a:t>
            </a:r>
            <a:r>
              <a:rPr lang="en-US" altLang="zh-TW" dirty="0" smtClean="0"/>
              <a:t>, or </a:t>
            </a:r>
            <a:r>
              <a:rPr lang="en-US" altLang="zh-TW" dirty="0"/>
              <a:t>others </a:t>
            </a:r>
          </a:p>
          <a:p>
            <a:pPr lvl="2"/>
            <a:endParaRPr lang="en-US" altLang="zh-TW" dirty="0" smtClean="0">
              <a:solidFill>
                <a:srgbClr val="FF0000"/>
              </a:solidFill>
            </a:endParaRPr>
          </a:p>
          <a:p>
            <a:pPr lvl="2"/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22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Requirement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Evaluation</a:t>
            </a:r>
          </a:p>
          <a:p>
            <a:pPr lvl="1"/>
            <a:r>
              <a:rPr lang="en-US" altLang="zh-TW" dirty="0" smtClean="0"/>
              <a:t>Regression model</a:t>
            </a:r>
          </a:p>
          <a:p>
            <a:pPr lvl="2"/>
            <a:r>
              <a:rPr lang="en-US" altLang="zh-TW" dirty="0" smtClean="0"/>
              <a:t>Mean absolute error (RAE), root mean square error (RMSE), R</a:t>
            </a:r>
            <a:r>
              <a:rPr lang="en-US" altLang="zh-TW" baseline="30000" dirty="0" smtClean="0"/>
              <a:t>2</a:t>
            </a:r>
          </a:p>
          <a:p>
            <a:pPr lvl="2"/>
            <a:r>
              <a:rPr lang="en-US" altLang="zh-TW" dirty="0" smtClean="0"/>
              <a:t>Whatever appropriate</a:t>
            </a:r>
          </a:p>
          <a:p>
            <a:pPr lvl="1"/>
            <a:r>
              <a:rPr lang="en-US" altLang="zh-TW" dirty="0" smtClean="0"/>
              <a:t>Classification model</a:t>
            </a:r>
          </a:p>
          <a:p>
            <a:pPr lvl="2"/>
            <a:r>
              <a:rPr lang="en-US" altLang="zh-TW" dirty="0" smtClean="0"/>
              <a:t>Receiver operating characteristic (</a:t>
            </a:r>
            <a:r>
              <a:rPr lang="en-US" altLang="zh-TW" dirty="0" smtClean="0">
                <a:solidFill>
                  <a:srgbClr val="FF0000"/>
                </a:solidFill>
              </a:rPr>
              <a:t>ROC</a:t>
            </a:r>
            <a:r>
              <a:rPr lang="en-US" altLang="zh-TW" dirty="0" smtClean="0"/>
              <a:t>) curve</a:t>
            </a:r>
          </a:p>
          <a:p>
            <a:r>
              <a:rPr lang="en-US" altLang="zh-TW" dirty="0" smtClean="0"/>
              <a:t>Also work on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Feature relative importance</a:t>
            </a:r>
          </a:p>
          <a:p>
            <a:pPr lvl="1"/>
            <a:r>
              <a:rPr lang="en-US" altLang="zh-TW" dirty="0" smtClean="0"/>
              <a:t>Developing parsimonious model</a:t>
            </a:r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79288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4017</TotalTime>
  <Words>736</Words>
  <Application>Microsoft Office PowerPoint</Application>
  <PresentationFormat>如螢幕大小 (4:3)</PresentationFormat>
  <Paragraphs>172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Times New Roman</vt:lpstr>
      <vt:lpstr>1_Office 佈景主題</vt:lpstr>
      <vt:lpstr>6_Office 佈景主題</vt:lpstr>
      <vt:lpstr>Mid-Term Project</vt:lpstr>
      <vt:lpstr>Screening for Sarcopenia</vt:lpstr>
      <vt:lpstr>The dataset for midterm practice</vt:lpstr>
      <vt:lpstr>The dataset for practice</vt:lpstr>
      <vt:lpstr>PowerPoint 簡報</vt:lpstr>
      <vt:lpstr>Analytic Issues</vt:lpstr>
      <vt:lpstr>Regression vs. Classification</vt:lpstr>
      <vt:lpstr>Requirement</vt:lpstr>
      <vt:lpstr>Requirement</vt:lpstr>
      <vt:lpstr>Requirement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Admin</dc:creator>
  <cp:lastModifiedBy>Admin</cp:lastModifiedBy>
  <cp:revision>256</cp:revision>
  <dcterms:created xsi:type="dcterms:W3CDTF">2022-02-10T08:29:43Z</dcterms:created>
  <dcterms:modified xsi:type="dcterms:W3CDTF">2026-04-02T15:04:04Z</dcterms:modified>
</cp:coreProperties>
</file>